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63" r:id="rId2"/>
    <p:sldId id="258" r:id="rId3"/>
    <p:sldId id="259" r:id="rId4"/>
    <p:sldId id="260" r:id="rId5"/>
    <p:sldId id="261" r:id="rId6"/>
    <p:sldId id="262" r:id="rId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9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51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2438339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51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2438339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51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2438339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51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2438339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51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2286000" algn="l" defTabSz="2438339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51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2743200" algn="l" defTabSz="2438339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51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3200400" algn="l" defTabSz="2438339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51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3657600" algn="l" defTabSz="2438339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51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0" d="100"/>
          <a:sy n="30" d="100"/>
        </p:scale>
        <p:origin x="884" y="24"/>
      </p:cViewPr>
      <p:guideLst>
        <p:guide orient="horz" pos="4320"/>
        <p:guide pos="7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2518171" y="-1287976"/>
            <a:ext cx="25081385" cy="1502183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4030265" y="7286625"/>
            <a:ext cx="16323470" cy="4643438"/>
          </a:xfrm>
          <a:prstGeom prst="rect">
            <a:avLst/>
          </a:prstGeom>
        </p:spPr>
        <p:txBody>
          <a:bodyPr anchor="b"/>
          <a:lstStyle>
            <a:lvl1pPr>
              <a:defRPr sz="11400" spc="-228"/>
            </a:lvl1pPr>
          </a:lstStyle>
          <a:p>
            <a:r>
              <a:t>Presentation Title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5" y="11858625"/>
            <a:ext cx="16323470" cy="9699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030265" y="803671"/>
            <a:ext cx="16323471" cy="648365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Author and Date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2253" y="12954296"/>
            <a:ext cx="409779" cy="4158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 "/>
          <p:cNvSpPr>
            <a:spLocks noGrp="1"/>
          </p:cNvSpPr>
          <p:nvPr>
            <p:ph type="pic" sz="half" idx="21"/>
          </p:nvPr>
        </p:nvSpPr>
        <p:spPr>
          <a:xfrm>
            <a:off x="10528025" y="696515"/>
            <a:ext cx="10608470" cy="1234695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5" y="7036593"/>
            <a:ext cx="7179470" cy="568767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4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4030265" y="973876"/>
            <a:ext cx="7179470" cy="6169874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828785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wl of pappardelle pasta with parsley butter, roasted hazelnuts and shaved parmesan cheese"/>
          <p:cNvSpPr>
            <a:spLocks noGrp="1"/>
          </p:cNvSpPr>
          <p:nvPr>
            <p:ph type="pic" sz="half" idx="21"/>
          </p:nvPr>
        </p:nvSpPr>
        <p:spPr>
          <a:xfrm>
            <a:off x="11727656" y="839390"/>
            <a:ext cx="9068098" cy="1209079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4030265" y="625078"/>
            <a:ext cx="7179470" cy="1428751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2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030265" y="1987000"/>
            <a:ext cx="7179470" cy="94472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1pPr>
          </a:lstStyle>
          <a:p>
            <a:r>
              <a:t>Slide Subtitle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5" y="4894026"/>
            <a:ext cx="7179470" cy="7865382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4030265" y="625078"/>
            <a:ext cx="7179470" cy="1428751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030265" y="1987000"/>
            <a:ext cx="7179470" cy="94472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1pPr>
          </a:lstStyle>
          <a:p>
            <a:r>
              <a:t>Slide Subtitle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5" y="4894026"/>
            <a:ext cx="7179470" cy="7865382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4030265" y="625078"/>
            <a:ext cx="7179470" cy="1428751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030265" y="1987000"/>
            <a:ext cx="7179470" cy="94472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1pPr>
          </a:lstStyle>
          <a:p>
            <a:r>
              <a:t>Slide Subtitle</a:t>
            </a:r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5" y="4894026"/>
            <a:ext cx="7179470" cy="7865382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4030265" y="4536281"/>
            <a:ext cx="16323470" cy="4643438"/>
          </a:xfrm>
          <a:prstGeom prst="rect">
            <a:avLst/>
          </a:prstGeom>
        </p:spPr>
        <p:txBody>
          <a:bodyPr anchor="ctr"/>
          <a:lstStyle>
            <a:lvl1pPr>
              <a:defRPr sz="11400" b="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030265" y="1987000"/>
            <a:ext cx="16323471" cy="94472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4030265" y="625078"/>
            <a:ext cx="16323470" cy="1428751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030265" y="1982390"/>
            <a:ext cx="16323471" cy="94472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800"/>
              </a:spcBef>
              <a:buSzTx/>
              <a:buNone/>
              <a:defRPr sz="5200" spc="-52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>
              <a:spcBef>
                <a:spcPts val="1800"/>
              </a:spcBef>
              <a:buSzTx/>
              <a:buNone/>
              <a:defRPr sz="5200" spc="-52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>
              <a:spcBef>
                <a:spcPts val="1800"/>
              </a:spcBef>
              <a:buSzTx/>
              <a:buNone/>
              <a:defRPr sz="5200" spc="-52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>
              <a:spcBef>
                <a:spcPts val="1800"/>
              </a:spcBef>
              <a:buSzTx/>
              <a:buNone/>
              <a:defRPr sz="5200" spc="-52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>
              <a:spcBef>
                <a:spcPts val="1800"/>
              </a:spcBef>
              <a:buSzTx/>
              <a:buNone/>
              <a:defRPr sz="5200" spc="-52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5" y="5018484"/>
            <a:ext cx="16323470" cy="368126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030265" y="8732784"/>
            <a:ext cx="16323469" cy="9447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Fact information</a:t>
            </a:r>
          </a:p>
        </p:txBody>
      </p:sp>
      <p:sp>
        <p:nvSpPr>
          <p:cNvPr id="12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030265" y="1404937"/>
            <a:ext cx="16323470" cy="732784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4600" b="1" spc="-246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4600" b="1" spc="-246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4600" b="1" spc="-246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4600" b="1" spc="-246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4600" b="1" spc="-246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83843" y="5232796"/>
            <a:ext cx="16216314" cy="3268267"/>
          </a:xfrm>
          <a:prstGeom prst="rect">
            <a:avLst/>
          </a:prstGeom>
        </p:spPr>
        <p:txBody>
          <a:bodyPr anchor="ctr"/>
          <a:lstStyle>
            <a:lvl1pPr marL="642937" indent="-482203">
              <a:spcBef>
                <a:spcPts val="0"/>
              </a:spcBef>
              <a:buSzTx/>
              <a:buNone/>
              <a:defRPr sz="8400" spc="-16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42937" indent="-25003">
              <a:spcBef>
                <a:spcPts val="0"/>
              </a:spcBef>
              <a:buSzTx/>
              <a:buNone/>
              <a:defRPr sz="8400" spc="-16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42937" indent="432196">
              <a:spcBef>
                <a:spcPts val="0"/>
              </a:spcBef>
              <a:buSzTx/>
              <a:buNone/>
              <a:defRPr sz="8400" spc="-16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42937" indent="889396">
              <a:spcBef>
                <a:spcPts val="0"/>
              </a:spcBef>
              <a:buSzTx/>
              <a:buNone/>
              <a:defRPr sz="8400" spc="-16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42937" indent="1346596">
              <a:spcBef>
                <a:spcPts val="0"/>
              </a:spcBef>
              <a:buSzTx/>
              <a:buNone/>
              <a:defRPr sz="8400" spc="-16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6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762500" y="9036843"/>
            <a:ext cx="15537657" cy="648365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Attribution</a:t>
            </a: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1619250" y="-1482329"/>
            <a:ext cx="20288250" cy="162306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7110" y="12954296"/>
            <a:ext cx="409780" cy="4158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030265" y="4161234"/>
            <a:ext cx="16323470" cy="857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4030265" y="619125"/>
            <a:ext cx="16323470" cy="1428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normAutofit/>
          </a:bodyPr>
          <a:lstStyle/>
          <a:p>
            <a:r>
              <a:t>Slide Title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2348" y="12954296"/>
            <a:ext cx="409779" cy="415875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b">
            <a:spAutoFit/>
          </a:bodyPr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4" r:id="rId13"/>
    <p:sldLayoutId id="2147483665" r:id="rId14"/>
  </p:sldLayoutIdLst>
  <p:transition spd="med"/>
  <p:txStyles>
    <p:titleStyle>
      <a:lvl1pPr marL="0" marR="0" indent="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647700" marR="0" indent="-647700" algn="l" defTabSz="2438339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5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1028700" marR="0" indent="-647700" algn="l" defTabSz="2438339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5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409700" marR="0" indent="-647700" algn="l" defTabSz="2438339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5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790700" marR="0" indent="-647700" algn="l" defTabSz="2438339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5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171700" marR="0" indent="-647700" algn="l" defTabSz="2438339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5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552700" marR="0" indent="-647700" algn="l" defTabSz="2438339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5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933700" marR="0" indent="-647700" algn="l" defTabSz="2438339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5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314700" marR="0" indent="-647700" algn="l" defTabSz="2438339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5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695700" marR="0" indent="-647700" algn="l" defTabSz="2438339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5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7EB791-BE89-13F6-DE9A-9E050610B961}"/>
              </a:ext>
            </a:extLst>
          </p:cNvPr>
          <p:cNvSpPr txBox="1"/>
          <p:nvPr/>
        </p:nvSpPr>
        <p:spPr>
          <a:xfrm>
            <a:off x="3545957" y="6396335"/>
            <a:ext cx="18782415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6000" b="1"/>
              <a:t>Lending Case Study</a:t>
            </a:r>
            <a:endParaRPr lang="en-US" sz="6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50D338-A563-931A-A209-E46DC6F2707B}"/>
              </a:ext>
            </a:extLst>
          </p:cNvPr>
          <p:cNvSpPr txBox="1"/>
          <p:nvPr/>
        </p:nvSpPr>
        <p:spPr>
          <a:xfrm>
            <a:off x="6524846" y="10504695"/>
            <a:ext cx="11334307" cy="18293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2438339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/>
              <a:t>Vasileios Sotiriadis</a:t>
            </a:r>
            <a:br>
              <a:rPr lang="en-US" sz="4000" dirty="0"/>
            </a:br>
            <a:r>
              <a:rPr lang="en-US" sz="4000" dirty="0"/>
              <a:t>March 2026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67554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150F9913-5571-6401-6632-10C767863756}"/>
              </a:ext>
            </a:extLst>
          </p:cNvPr>
          <p:cNvPicPr preferRelativeResize="0">
            <a:picLocks noGrp="1" noChangeAspect="1"/>
          </p:cNvPicPr>
          <p:nvPr>
            <p:ph type="pic" sz="half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7385" y="255181"/>
            <a:ext cx="8752960" cy="12504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25BB571-2637-8694-BEFC-D5A6F443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355" y="558249"/>
            <a:ext cx="8752960" cy="1428751"/>
          </a:xfrm>
        </p:spPr>
        <p:txBody>
          <a:bodyPr>
            <a:normAutofit/>
          </a:bodyPr>
          <a:lstStyle/>
          <a:p>
            <a:r>
              <a:rPr lang="en-US" sz="6000" dirty="0"/>
              <a:t>Loan Portfolio Evolution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E870644-0A6C-8388-339C-E8F6B38FED0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59354" y="1795711"/>
            <a:ext cx="8528924" cy="944721"/>
          </a:xfrm>
        </p:spPr>
        <p:txBody>
          <a:bodyPr>
            <a:noAutofit/>
          </a:bodyPr>
          <a:lstStyle/>
          <a:p>
            <a:r>
              <a:rPr lang="en-US" sz="4000" dirty="0"/>
              <a:t>2014 VS 2015 Structural break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64844F8-F8C2-11EF-DB3F-7F914090A79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359354" y="3447998"/>
            <a:ext cx="8358803" cy="7865382"/>
          </a:xfrm>
        </p:spPr>
        <p:txBody>
          <a:bodyPr>
            <a:noAutofit/>
          </a:bodyPr>
          <a:lstStyle/>
          <a:p>
            <a:r>
              <a:rPr lang="en-US" sz="3000" dirty="0"/>
              <a:t>Applications +43%</a:t>
            </a:r>
          </a:p>
          <a:p>
            <a:r>
              <a:rPr lang="en-US" sz="3000" dirty="0"/>
              <a:t>Total Profit −27%</a:t>
            </a:r>
          </a:p>
          <a:p>
            <a:r>
              <a:rPr lang="en-US" sz="3000" dirty="0"/>
              <a:t>Average Loan Size -39%</a:t>
            </a:r>
          </a:p>
          <a:p>
            <a:r>
              <a:rPr lang="en-US" sz="3000" dirty="0"/>
              <a:t>Total Losses -24%</a:t>
            </a:r>
          </a:p>
          <a:p>
            <a:r>
              <a:rPr lang="en-US" sz="3000" dirty="0"/>
              <a:t>Net Revenue -28%</a:t>
            </a:r>
          </a:p>
          <a:p>
            <a:pPr marL="0" indent="0">
              <a:buNone/>
            </a:pPr>
            <a:r>
              <a:rPr lang="en-US" sz="3000" dirty="0"/>
              <a:t>Several strategic initiatives introduced in</a:t>
            </a:r>
            <a:br>
              <a:rPr lang="en-US" sz="3000" dirty="0"/>
            </a:br>
            <a:r>
              <a:rPr lang="en-US" sz="3000" b="1" dirty="0"/>
              <a:t>Q1 2015</a:t>
            </a:r>
            <a:r>
              <a:rPr lang="en-US" sz="3000" dirty="0"/>
              <a:t> changed the portfolio dynamics.</a:t>
            </a:r>
          </a:p>
          <a:p>
            <a:pPr marL="0" indent="0">
              <a:buNone/>
            </a:pPr>
            <a:r>
              <a:rPr lang="en-US" sz="3000" dirty="0"/>
              <a:t>This motivates the deeper analysis of:</a:t>
            </a:r>
          </a:p>
          <a:p>
            <a:r>
              <a:rPr lang="en-US" sz="3000" b="1" dirty="0"/>
              <a:t>Second aggregator launch</a:t>
            </a:r>
            <a:endParaRPr lang="en-US" sz="3000" dirty="0"/>
          </a:p>
          <a:p>
            <a:r>
              <a:rPr lang="en-US" sz="3000" b="1" dirty="0"/>
              <a:t>Credit policy tightening</a:t>
            </a:r>
            <a:endParaRPr lang="en-US" sz="3000" dirty="0"/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19556507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3D8B9B1-13A0-758E-F827-0FEFDE908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188" y="625078"/>
            <a:ext cx="9963547" cy="1428751"/>
          </a:xfrm>
        </p:spPr>
        <p:txBody>
          <a:bodyPr>
            <a:noAutofit/>
          </a:bodyPr>
          <a:lstStyle/>
          <a:p>
            <a:r>
              <a:rPr lang="en-US" sz="6000" dirty="0"/>
              <a:t>Second aggregator launch</a:t>
            </a:r>
          </a:p>
        </p:txBody>
      </p: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6387A930-D592-EF18-96B7-0FA765CA3CFD}"/>
              </a:ext>
            </a:extLst>
          </p:cNvPr>
          <p:cNvPicPr>
            <a:picLocks noGrp="1" noChangeAspect="1"/>
          </p:cNvPicPr>
          <p:nvPr>
            <p:ph type="pic" sz="half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7963" y="1518901"/>
            <a:ext cx="12457897" cy="10678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327FF86-8C46-6BB6-F4A9-94D2E842017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6081" y="1581468"/>
            <a:ext cx="11060879" cy="944721"/>
          </a:xfrm>
        </p:spPr>
        <p:txBody>
          <a:bodyPr>
            <a:noAutofit/>
          </a:bodyPr>
          <a:lstStyle/>
          <a:p>
            <a:r>
              <a:rPr lang="en-US" sz="4000" dirty="0"/>
              <a:t>Channel Mix Shift After Aggregator Launch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B6F109F-A3FF-0224-42B8-BDE776AEB3F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246188" y="3163364"/>
            <a:ext cx="7179470" cy="7865382"/>
          </a:xfrm>
        </p:spPr>
        <p:txBody>
          <a:bodyPr>
            <a:normAutofit/>
          </a:bodyPr>
          <a:lstStyle/>
          <a:p>
            <a:r>
              <a:rPr lang="en-US" sz="3000" dirty="0"/>
              <a:t>Aggregator applications: 2x</a:t>
            </a:r>
          </a:p>
          <a:p>
            <a:r>
              <a:rPr lang="en-US" sz="3000" dirty="0"/>
              <a:t>Aggregator portfolio share: 20%-40%</a:t>
            </a:r>
            <a:br>
              <a:rPr lang="en-US" sz="3000" dirty="0"/>
            </a:br>
            <a:br>
              <a:rPr lang="en-US" sz="3000" dirty="0"/>
            </a:br>
            <a:br>
              <a:rPr lang="en-US" sz="3000" dirty="0"/>
            </a:br>
            <a:br>
              <a:rPr lang="en-US" sz="3000" dirty="0"/>
            </a:br>
            <a:endParaRPr lang="en-US" sz="3000" dirty="0"/>
          </a:p>
          <a:p>
            <a:endParaRPr lang="en-US" sz="3000" dirty="0"/>
          </a:p>
          <a:p>
            <a:r>
              <a:rPr lang="en-US" sz="3000" dirty="0"/>
              <a:t>The new aggregator significantly increased </a:t>
            </a:r>
            <a:r>
              <a:rPr lang="en-US" sz="3000" b="1" dirty="0"/>
              <a:t>loan acquisition through third-party platforms</a:t>
            </a:r>
            <a:r>
              <a:rPr lang="en-US" sz="3000" dirty="0"/>
              <a:t>.</a:t>
            </a:r>
          </a:p>
          <a:p>
            <a:r>
              <a:rPr lang="en-US" sz="3000" dirty="0"/>
              <a:t>However, channel expansion can affect </a:t>
            </a:r>
            <a:r>
              <a:rPr lang="en-US" sz="3000" b="1" dirty="0"/>
              <a:t>borrower quality and profitability</a:t>
            </a:r>
            <a:r>
              <a:rPr lang="en-US" sz="3000" dirty="0"/>
              <a:t>.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0387130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1E90A86-0063-D06A-7261-882505FC219C}"/>
              </a:ext>
            </a:extLst>
          </p:cNvPr>
          <p:cNvPicPr>
            <a:picLocks noGrp="1" noChangeAspect="1"/>
          </p:cNvPicPr>
          <p:nvPr>
            <p:ph type="pic" sz="half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5653" y="7082279"/>
            <a:ext cx="9900000" cy="59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F1700EE-F96B-C2B2-11ED-5B377D12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712" y="529143"/>
            <a:ext cx="10933288" cy="1724959"/>
          </a:xfrm>
        </p:spPr>
        <p:txBody>
          <a:bodyPr>
            <a:noAutofit/>
          </a:bodyPr>
          <a:lstStyle/>
          <a:p>
            <a:r>
              <a:rPr lang="en-US" sz="6000" dirty="0"/>
              <a:t>Aggregator Impact on Credit Risk Mix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CA8789-BBF2-32BF-393F-5D7687EF605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09734" y="2481238"/>
            <a:ext cx="9900000" cy="944721"/>
          </a:xfrm>
        </p:spPr>
        <p:txBody>
          <a:bodyPr>
            <a:noAutofit/>
          </a:bodyPr>
          <a:lstStyle/>
          <a:p>
            <a:r>
              <a:rPr lang="en-US" sz="4000" dirty="0"/>
              <a:t>Borrower Risk Profile by Channel</a:t>
            </a:r>
            <a:endParaRPr lang="en-US" sz="4000" i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EBD706-A4A6-0D36-38CB-14682CD0D54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309733" y="3949303"/>
            <a:ext cx="11865934" cy="8880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Aggregator channel shows:</a:t>
            </a:r>
          </a:p>
          <a:p>
            <a:r>
              <a:rPr lang="en-US" sz="3200" dirty="0"/>
              <a:t>Strong increase in </a:t>
            </a:r>
            <a:r>
              <a:rPr lang="en-US" sz="3200" b="1" dirty="0"/>
              <a:t>Sub-Prime and Near-Prime borrowers</a:t>
            </a:r>
            <a:endParaRPr lang="en-US" sz="3200" dirty="0"/>
          </a:p>
          <a:p>
            <a:r>
              <a:rPr lang="en-US" sz="3200" dirty="0"/>
              <a:t>Direct channel remains </a:t>
            </a:r>
            <a:r>
              <a:rPr lang="en-US" sz="3200" b="1" dirty="0"/>
              <a:t>more prime-heavy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dirty="0"/>
              <a:t>The second aggregator attracted </a:t>
            </a:r>
            <a:r>
              <a:rPr lang="en-US" sz="3200" b="1" dirty="0"/>
              <a:t>riskier borrowers</a:t>
            </a:r>
            <a:r>
              <a:rPr lang="en-US" sz="3200" dirty="0"/>
              <a:t>, which contributed to:</a:t>
            </a:r>
          </a:p>
          <a:p>
            <a:r>
              <a:rPr lang="en-US" sz="3200" dirty="0"/>
              <a:t>Lower loan sizes</a:t>
            </a:r>
          </a:p>
          <a:p>
            <a:r>
              <a:rPr lang="en-US" sz="3200" dirty="0"/>
              <a:t>Higher credit risk</a:t>
            </a:r>
          </a:p>
          <a:p>
            <a:r>
              <a:rPr lang="en-US" sz="3200" dirty="0"/>
              <a:t>Lower profitability per loan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E48CBA-4895-EEAD-6C68-91CC77402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5653" y="594442"/>
            <a:ext cx="9900000" cy="59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4514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B3A4C4A-40CD-5C44-DCBA-0DFDBC0293FD}"/>
              </a:ext>
            </a:extLst>
          </p:cNvPr>
          <p:cNvPicPr>
            <a:picLocks noGrp="1" noChangeAspect="1"/>
          </p:cNvPicPr>
          <p:nvPr>
            <p:ph type="pic" sz="half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4267" y="7297447"/>
            <a:ext cx="9900000" cy="59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1812025-23C7-5C70-FF67-5B80748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188" y="625078"/>
            <a:ext cx="9963547" cy="1428751"/>
          </a:xfrm>
        </p:spPr>
        <p:txBody>
          <a:bodyPr>
            <a:normAutofit/>
          </a:bodyPr>
          <a:lstStyle/>
          <a:p>
            <a:r>
              <a:rPr lang="en-US" sz="6000" dirty="0"/>
              <a:t>Credit Policy Tightening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25C79-C304-FE4C-9812-AC019D16A0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46188" y="1589888"/>
            <a:ext cx="12342221" cy="944721"/>
          </a:xfrm>
        </p:spPr>
        <p:txBody>
          <a:bodyPr>
            <a:noAutofit/>
          </a:bodyPr>
          <a:lstStyle/>
          <a:p>
            <a:r>
              <a:rPr lang="en-US" sz="4000" dirty="0"/>
              <a:t>Impact of Loan Size Caps on Risky Borrowers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FF74F3-9EC9-93D5-11D3-6EB64CF279E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339992" y="3364755"/>
            <a:ext cx="11603884" cy="91603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Credit policy tightening measures rolled out in February and finalized in March 2015</a:t>
            </a:r>
          </a:p>
          <a:p>
            <a:pPr marL="0" indent="0">
              <a:buNone/>
            </a:pPr>
            <a:r>
              <a:rPr lang="en-US" sz="3000" dirty="0"/>
              <a:t>Loan sizes decreased significantly for:</a:t>
            </a:r>
          </a:p>
          <a:p>
            <a:r>
              <a:rPr lang="en-US" sz="3000" b="1" dirty="0"/>
              <a:t>Sub-Prime</a:t>
            </a:r>
            <a:endParaRPr lang="en-US" sz="3000" dirty="0"/>
          </a:p>
          <a:p>
            <a:r>
              <a:rPr lang="en-US" sz="3000" b="1" dirty="0"/>
              <a:t>Near-Prime</a:t>
            </a:r>
            <a:endParaRPr lang="en-US" sz="3000" dirty="0"/>
          </a:p>
          <a:p>
            <a:pPr marL="0" indent="0">
              <a:buNone/>
            </a:pPr>
            <a:r>
              <a:rPr lang="en-US" sz="3000" dirty="0"/>
              <a:t>Higher credit bands remained largely unchanged.</a:t>
            </a:r>
          </a:p>
          <a:p>
            <a:pPr marL="0" indent="0">
              <a:buNone/>
            </a:pPr>
            <a:endParaRPr lang="en-US" sz="3000" dirty="0"/>
          </a:p>
          <a:p>
            <a:endParaRPr lang="en-US" sz="3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E5ED04-4C78-C7E0-F6A6-7F1B24887E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875" y="1633891"/>
            <a:ext cx="9504001" cy="59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065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FEE0EA-CE82-CABA-C792-9DAD56DF3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498" y="625078"/>
            <a:ext cx="9806237" cy="1428751"/>
          </a:xfrm>
        </p:spPr>
        <p:txBody>
          <a:bodyPr>
            <a:normAutofit/>
          </a:bodyPr>
          <a:lstStyle/>
          <a:p>
            <a:r>
              <a:rPr lang="en-US" sz="6000" dirty="0"/>
              <a:t>Risk and Profitability Impact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64A46-EF49-1A00-4898-BFDCF129B6E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03498" y="1901940"/>
            <a:ext cx="9654362" cy="944721"/>
          </a:xfrm>
        </p:spPr>
        <p:txBody>
          <a:bodyPr>
            <a:noAutofit/>
          </a:bodyPr>
          <a:lstStyle/>
          <a:p>
            <a:r>
              <a:rPr lang="en-US" sz="4000" dirty="0"/>
              <a:t>Credit Policy Reduced Loss Exposure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A67C7D-CB62-B748-BE9D-4A5861CEB0E5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403497" y="3638828"/>
            <a:ext cx="11568223" cy="9162772"/>
          </a:xfrm>
        </p:spPr>
        <p:txBody>
          <a:bodyPr>
            <a:normAutofit/>
          </a:bodyPr>
          <a:lstStyle/>
          <a:p>
            <a:r>
              <a:rPr lang="en-US" sz="3000" dirty="0"/>
              <a:t>Loss rates declined for lower credit bands</a:t>
            </a:r>
          </a:p>
          <a:p>
            <a:r>
              <a:rPr lang="en-US" sz="3000" dirty="0"/>
              <a:t>Profit per loan stabilized despite smaller loan sizes</a:t>
            </a:r>
            <a:br>
              <a:rPr lang="en-US" sz="3000" dirty="0"/>
            </a:br>
            <a:br>
              <a:rPr lang="en-US" sz="3000" dirty="0"/>
            </a:br>
            <a:br>
              <a:rPr lang="en-US" sz="3000" dirty="0"/>
            </a:br>
            <a:br>
              <a:rPr lang="en-US" sz="3000" dirty="0"/>
            </a:br>
            <a:br>
              <a:rPr lang="en-US" sz="3000" dirty="0"/>
            </a:br>
            <a:endParaRPr lang="en-US" sz="3000" dirty="0"/>
          </a:p>
          <a:p>
            <a:pPr marL="0" indent="0">
              <a:buNone/>
            </a:pPr>
            <a:r>
              <a:rPr lang="en-US" sz="3000" dirty="0"/>
              <a:t>The credit tightening policy helped mitigate credit risk, partially offsetting the increased risk introduced by the aggregator channel.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0ACCA7E1-BF76-C5A9-D977-FB1255FA4DEE}"/>
              </a:ext>
            </a:extLst>
          </p:cNvPr>
          <p:cNvPicPr>
            <a:picLocks noGrp="1" noChangeAspect="1"/>
          </p:cNvPicPr>
          <p:nvPr>
            <p:ph type="pic" sz="half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3080" y="645715"/>
            <a:ext cx="9504001" cy="59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C24042-A9A4-4BE3-A3BD-63B889E4A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3080" y="7571519"/>
            <a:ext cx="9504001" cy="59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23022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l" defTabSz="2438339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51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l" defTabSz="2438339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51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250</Words>
  <Application>Microsoft Office PowerPoint</Application>
  <PresentationFormat>Custom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Helvetica Neue</vt:lpstr>
      <vt:lpstr>Helvetica Neue Medium</vt:lpstr>
      <vt:lpstr>21_BasicWhite</vt:lpstr>
      <vt:lpstr>PowerPoint Presentation</vt:lpstr>
      <vt:lpstr>Loan Portfolio Evolution</vt:lpstr>
      <vt:lpstr>Second aggregator launch</vt:lpstr>
      <vt:lpstr>Aggregator Impact on Credit Risk Mix</vt:lpstr>
      <vt:lpstr>Credit Policy Tightening</vt:lpstr>
      <vt:lpstr>Risk and Profitability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Vasilis Sotiriadis</cp:lastModifiedBy>
  <cp:revision>5</cp:revision>
  <dcterms:modified xsi:type="dcterms:W3CDTF">2026-03-22T15:06:44Z</dcterms:modified>
</cp:coreProperties>
</file>